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ron Guillermo" initials="AG" lastIdx="1" clrIdx="0">
    <p:extLst>
      <p:ext uri="{19B8F6BF-5375-455C-9EA6-DF929625EA0E}">
        <p15:presenceInfo xmlns:p15="http://schemas.microsoft.com/office/powerpoint/2012/main" userId="f60b6cc9447277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0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568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89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460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64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32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964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430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54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64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56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12C6A-8043-45E7-8DFC-29FD48261E2F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29824-A852-4748-8869-96A8B6718E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460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D8BA5-05C5-4C3B-B505-A5AA22A3EE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Actividad 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2B89D0-1CAE-4D7C-A2ED-5F87F2F65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30119"/>
            <a:ext cx="9144000" cy="1655762"/>
          </a:xfrm>
        </p:spPr>
        <p:txBody>
          <a:bodyPr/>
          <a:lstStyle/>
          <a:p>
            <a:r>
              <a:rPr lang="es-ES" dirty="0"/>
              <a:t>Aaron Guillermo Parra Merino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0A5F4CB-9A6F-4959-9CE8-861F240AC747}"/>
              </a:ext>
            </a:extLst>
          </p:cNvPr>
          <p:cNvSpPr txBox="1">
            <a:spLocks/>
          </p:cNvSpPr>
          <p:nvPr/>
        </p:nvSpPr>
        <p:spPr>
          <a:xfrm>
            <a:off x="1524000" y="46751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Taller de </a:t>
            </a:r>
            <a:r>
              <a:rPr lang="es-ES" dirty="0" err="1"/>
              <a:t>Simulacion</a:t>
            </a:r>
            <a:r>
              <a:rPr lang="es-ES" dirty="0"/>
              <a:t> de Sistemas</a:t>
            </a:r>
          </a:p>
        </p:txBody>
      </p:sp>
    </p:spTree>
    <p:extLst>
      <p:ext uri="{BB962C8B-B14F-4D97-AF65-F5344CB8AC3E}">
        <p14:creationId xmlns:p14="http://schemas.microsoft.com/office/powerpoint/2010/main" val="61595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7202A-7CB0-48AB-89A1-24CB1925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Descripcion</a:t>
            </a:r>
            <a:r>
              <a:rPr lang="es-ES" dirty="0"/>
              <a:t> del problema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99ECF5C-1E4A-4C8A-B5E1-91CFDB2BA5DD}"/>
                  </a:ext>
                </a:extLst>
              </p:cNvPr>
              <p:cNvSpPr txBox="1"/>
              <p:nvPr/>
            </p:nvSpPr>
            <p:spPr>
              <a:xfrm>
                <a:off x="1804987" y="1690688"/>
                <a:ext cx="8582025" cy="4045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La dificultad central radica en que la dinámica del déficit fiscal y la deuda pública depende de múltiples variables con comportamiento incierto. La ecuación base es simple: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𝐷𝑒𝑓𝑖𝑐𝑖𝑡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𝐹𝑖𝑠𝑐𝑎𝑙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𝐼𝑛𝑔𝑟𝑒𝑠𝑜𝑠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𝑑𝑒𝑙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𝐸𝑠𝑡𝑎𝑑𝑜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𝐺𝑎𝑠𝑡𝑜𝑠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𝑑𝑒𝑙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𝐸𝑠𝑡𝑎𝑑𝑜</m:t>
                      </m:r>
                    </m:oMath>
                  </m:oMathPara>
                </a14:m>
                <a:endParaRPr lang="es-ES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Sin embargo, los componentes de ingresos y gastos están influidos por factores externos y estocásticos, como: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Variaciones en precios internacionales del petróleo, gas y minerales.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Tasas de interés internacionales.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Cambios en la demanda interna y el consumo de hogares.</a:t>
                </a:r>
              </a:p>
              <a:p>
                <a:pPr marL="342900" lvl="0" indent="-342900">
                  <a:lnSpc>
                    <a:spcPct val="107000"/>
                  </a:lnSpc>
                  <a:buFont typeface="Symbol" panose="05050102010706020507" pitchFamily="18" charset="2"/>
                  <a:buChar char=""/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Volatilidad en la inversión privada.</a:t>
                </a:r>
              </a:p>
              <a:p>
                <a:pPr marL="342900" lvl="0" indent="-342900">
                  <a:lnSpc>
                    <a:spcPct val="107000"/>
                  </a:lnSpc>
                  <a:spcAft>
                    <a:spcPts val="800"/>
                  </a:spcAft>
                  <a:buFont typeface="Symbol" panose="05050102010706020507" pitchFamily="18" charset="2"/>
                  <a:buChar char=""/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Shocks en exportaciones e importaciones.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ES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Esto convierte el sistema fiscal en un entorno altamente dinámico, donde los agentes económicos responden con información incompleta y expectativas cambiantes.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99ECF5C-1E4A-4C8A-B5E1-91CFDB2BA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987" y="1690688"/>
                <a:ext cx="8582025" cy="4045916"/>
              </a:xfrm>
              <a:prstGeom prst="rect">
                <a:avLst/>
              </a:prstGeom>
              <a:blipFill>
                <a:blip r:embed="rId2"/>
                <a:stretch>
                  <a:fillRect l="-568" t="-602" r="-568" b="-13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74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52339-36FF-47F0-9416-C57CD4D4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224B63-1BA1-4F20-82A8-D44E7F3415DA}"/>
              </a:ext>
            </a:extLst>
          </p:cNvPr>
          <p:cNvSpPr txBox="1"/>
          <p:nvPr/>
        </p:nvSpPr>
        <p:spPr>
          <a:xfrm>
            <a:off x="2219325" y="1690688"/>
            <a:ext cx="7381875" cy="4030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07000"/>
              </a:lnSpc>
              <a:spcBef>
                <a:spcPts val="200"/>
              </a:spcBef>
            </a:pPr>
            <a:r>
              <a:rPr lang="es-ES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Construir un modelo matemático estocástico y su correspondiente simulación (en versión web), que represente la dinámica del déficit fiscal y la deuda pública de Bolivia entre 2020 y 2025, permitiendo analizar escenarios futuros de sostenibilidad fiscal bajo condiciones de incertidumbre, utilizando datos oficiales del MEFP, BCB e INE.</a:t>
            </a:r>
          </a:p>
          <a:p>
            <a:pPr lvl="1">
              <a:lnSpc>
                <a:spcPct val="107000"/>
              </a:lnSpc>
              <a:spcBef>
                <a:spcPts val="200"/>
              </a:spcBef>
            </a:pPr>
            <a:r>
              <a:rPr lang="es-ES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Objetivos específicos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Recopilar datos económicos oficiales del MEFP, BCB e INE para definir las variables del modelo.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Formular la ecuación principal del déficit fiscal y sus subcomponentes (ingresos, gastos, inversión).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Incorporar la evolución de la deuda externa e interna a partir de datos del BCB.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Estimar la volatilidad de los precios internacionales para generar componentes estocásticos en la simulación.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Representar el comportamiento de hogares, empresas y sector externo utilizando variables del PIB del INE.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Simular diferentes escenarios futuros mediante algoritmos estocásticos.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s-E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Evaluar la sostenibilidad fiscal considerando la evolución del déficit y el endeudamiento.</a:t>
            </a:r>
          </a:p>
        </p:txBody>
      </p:sp>
    </p:spTree>
    <p:extLst>
      <p:ext uri="{BB962C8B-B14F-4D97-AF65-F5344CB8AC3E}">
        <p14:creationId xmlns:p14="http://schemas.microsoft.com/office/powerpoint/2010/main" val="391712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24208-AB1C-4850-AFEC-C1CB57A5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Planteamiento del 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E3E495-B922-4FB5-B3E3-C506843F87F4}"/>
              </a:ext>
            </a:extLst>
          </p:cNvPr>
          <p:cNvSpPr txBox="1"/>
          <p:nvPr/>
        </p:nvSpPr>
        <p:spPr>
          <a:xfrm>
            <a:off x="723900" y="2376490"/>
            <a:ext cx="10953750" cy="237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i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¿Cómo representar mediante un modelo matemático estocástico las interacciones entre ingresos públicos, gastos estatales, precio internacional de materias primas, subsidios, recaudación tributaria y acumulación de deuda, de forma que sea posible simular escenarios de sostenibilidad fiscal para Bolivia bajo condiciones de incertidumbre?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179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511F0-44D6-4829-8B69-9BE8FF35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SPNF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D6A303-117C-44F0-8776-FB9AE881CC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56285" y="1463992"/>
            <a:ext cx="5787390" cy="266985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A3454AC-9156-48E8-8A32-39546876BD0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88467" y="365125"/>
            <a:ext cx="5034915" cy="18980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1ED4A7F-6292-4313-9B61-2A99414F04E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12217" y="4497070"/>
            <a:ext cx="4882515" cy="199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4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F8EAE-5D16-45CC-994B-4B0C1C2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Deuda publica externa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2C0C7CD-2B76-4ED8-B319-58E372880B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82950" y="1823084"/>
            <a:ext cx="5626100" cy="41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9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61618-B936-4D8A-9547-EDDF60CCB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Indice</a:t>
            </a:r>
            <a:r>
              <a:rPr lang="es-ES" dirty="0"/>
              <a:t> del precio del consumidor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AAAFE7-13E2-4605-B920-843ECC8CDD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3085" y="2332672"/>
            <a:ext cx="8206740" cy="25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18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69C5D-B625-4386-9B3F-5439F22F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Balanza de pagos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ADA0CA-A217-46A3-9FE0-6C00D3D44C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08972" y="1509077"/>
            <a:ext cx="5774055" cy="505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5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9F1A7-48CC-49B1-8D14-4C3DB8A1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Produccion</a:t>
            </a:r>
            <a:r>
              <a:rPr lang="es-ES" dirty="0"/>
              <a:t> de minerales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2251C0-5C93-47D2-AD66-3C0DAEC75B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02105" y="2445067"/>
            <a:ext cx="8987790" cy="237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2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B2711-4584-461D-B72B-8BFA81A7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Producto Interno Bruto (PIB)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FDCBCE-DE12-4D3C-A7A8-86BC7E4541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3457" y="1553527"/>
            <a:ext cx="5125085" cy="449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08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7A000-B9BC-47A8-92FA-11FDA5DCD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Stock de la deuda publica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21C65B-EA80-4064-9B1F-D3095F1B35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80715" y="1848167"/>
            <a:ext cx="5668010" cy="419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0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81F8F-93BC-42D9-9752-898C4302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Tasa de interés internacional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399924-B24C-497E-A9AC-FAEE48CD2FA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63800" y="2086610"/>
            <a:ext cx="7264400" cy="343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7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3B332-D4E1-4470-8CCE-080448E2F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Simulacion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C47655-D73D-4014-A19D-07F6060751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590" y="1824672"/>
            <a:ext cx="1499870" cy="140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E98A823-E2C4-43F9-801A-6B21AB285BC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432" y="1664653"/>
            <a:ext cx="1511935" cy="1807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2C5FBE1-D094-4370-944B-B2AD69E8B11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509635" y="1647190"/>
            <a:ext cx="1535430" cy="17818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0D989BC-0F99-4920-BC8F-76B213C0EF3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547110" y="4099559"/>
            <a:ext cx="5612130" cy="2135505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A807735-6C43-4979-86F0-E264F0CEBC96}"/>
              </a:ext>
            </a:extLst>
          </p:cNvPr>
          <p:cNvCxnSpPr/>
          <p:nvPr/>
        </p:nvCxnSpPr>
        <p:spPr>
          <a:xfrm>
            <a:off x="3310731" y="2525077"/>
            <a:ext cx="14612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3BB7FE7-8362-4F51-869B-2FD261937C13}"/>
              </a:ext>
            </a:extLst>
          </p:cNvPr>
          <p:cNvCxnSpPr/>
          <p:nvPr/>
        </p:nvCxnSpPr>
        <p:spPr>
          <a:xfrm>
            <a:off x="6768306" y="2538095"/>
            <a:ext cx="14612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4743710-42D0-4574-BA9C-DD580F1BAE74}"/>
              </a:ext>
            </a:extLst>
          </p:cNvPr>
          <p:cNvCxnSpPr>
            <a:cxnSpLocks/>
          </p:cNvCxnSpPr>
          <p:nvPr/>
        </p:nvCxnSpPr>
        <p:spPr>
          <a:xfrm flipH="1">
            <a:off x="6505575" y="3562351"/>
            <a:ext cx="2105025" cy="493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32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34105-B232-499D-B9BD-EC9AA8A1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Simulacion</a:t>
            </a:r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906AE9-8FCF-48A6-A409-3060DD3CF3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03935" y="1690688"/>
            <a:ext cx="5612130" cy="18014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81C5AAC-1D11-4DC2-80C7-A6B8BCB5A5E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03960" y="4012883"/>
            <a:ext cx="5612130" cy="16097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470CEA8-1F80-4EDB-A64E-C56532AE016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575935" y="2502853"/>
            <a:ext cx="5612130" cy="197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71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C7682-1EC0-4362-A215-E2237C5B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en tablas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72DA15-41A8-43F6-9FE0-F83AC3A536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8755" y="1690688"/>
            <a:ext cx="9254490" cy="45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3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383</Words>
  <Application>Microsoft Office PowerPoint</Application>
  <PresentationFormat>Panorámica</PresentationFormat>
  <Paragraphs>37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Symbol</vt:lpstr>
      <vt:lpstr>Office Theme</vt:lpstr>
      <vt:lpstr>Actividad 4</vt:lpstr>
      <vt:lpstr>Descripcion del problema</vt:lpstr>
      <vt:lpstr>Objetivos</vt:lpstr>
      <vt:lpstr>Planteamiento del problema</vt:lpstr>
      <vt:lpstr>SPNF</vt:lpstr>
      <vt:lpstr>Deuda publica externa</vt:lpstr>
      <vt:lpstr>Indice del precio del consumidor</vt:lpstr>
      <vt:lpstr>Balanza de pagos</vt:lpstr>
      <vt:lpstr>Produccion de minerales</vt:lpstr>
      <vt:lpstr>Producto Interno Bruto (PIB)</vt:lpstr>
      <vt:lpstr>Stock de la deuda publica</vt:lpstr>
      <vt:lpstr>Tasa de interés internacional</vt:lpstr>
      <vt:lpstr>Simulacion</vt:lpstr>
      <vt:lpstr>Simulacion</vt:lpstr>
      <vt:lpstr>Resultados en tablas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</dc:title>
  <dc:creator>Aaron Guillermo</dc:creator>
  <cp:lastModifiedBy>Aaron Guillermo</cp:lastModifiedBy>
  <cp:revision>1</cp:revision>
  <dcterms:created xsi:type="dcterms:W3CDTF">2025-12-08T13:39:08Z</dcterms:created>
  <dcterms:modified xsi:type="dcterms:W3CDTF">2025-12-08T13:48:20Z</dcterms:modified>
</cp:coreProperties>
</file>